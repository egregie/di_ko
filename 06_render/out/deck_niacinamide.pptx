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41148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875234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YM PROSKIN · Ниацинамид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3036093"/>
            <a:ext cx="4114800" cy="10972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Многофункциональное терапевтическое действие в дерматокосметологии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22031" y="1071562"/>
            <a:ext cx="3964781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Применение Ниацинамида в дерматологии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D2C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7187" y="1607343"/>
            <a:ext cx="8430768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000" b="1" i="0">
                <a:solidFill>
                  <a:srgbClr val="6D8470"/>
                </a:solidFill>
                <a:latin typeface="Arimo"/>
              </a:defRPr>
            </a:pPr>
            <a:r>
              <a:rPr sz="1000" b="1" i="0">
                <a:solidFill>
                  <a:srgbClr val="6D8470"/>
                </a:solidFill>
                <a:latin typeface="Arimo"/>
              </a:rPr>
              <a:t>НИАЦИНАМИД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1964531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3600" b="1" i="0">
                <a:solidFill>
                  <a:srgbClr val="2C3440"/>
                </a:solidFill>
                <a:latin typeface="Arimo"/>
              </a:defRPr>
            </a:pPr>
            <a:r>
              <a:rPr sz="3600" b="1" i="0">
                <a:solidFill>
                  <a:srgbClr val="2C3440"/>
                </a:solidFill>
                <a:latin typeface="Arimo"/>
              </a:rPr>
              <a:t>Терапевтический профиль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2768203"/>
            <a:ext cx="8430768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0" i="0">
                <a:solidFill>
                  <a:srgbClr val="3D4A40"/>
                </a:solidFill>
                <a:latin typeface="Arimo"/>
              </a:defRPr>
            </a:pPr>
            <a:r>
              <a:rPr sz="2000" b="0" i="0">
                <a:solidFill>
                  <a:srgbClr val="3D4A40"/>
                </a:solidFill>
                <a:latin typeface="Arimo"/>
              </a:rPr>
              <a:t>От восстановления барьера до коррекции акне и пигментации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fact_0039, SRC-A026, SRC-A036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Восстановление барьерной функции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Стимуляция синтеза липидов рогового слоя и гидратация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Активирует синтез церамидов, укрепляя защитный липидный барьер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Значительно снижает трансэпидермальную потерю воды (TEWL).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Повышает влагоудерживающие свойства рогового слоя эпидермиса.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Церамиды и трансэпидермальный перенос воды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fact_0025, SRC-A027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Терапия акне и себорегуляция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Клиническое применение при воспалительных поражениях кожи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воспалительных поражений при акне средней тяжести.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Нормализует выработку кожного сала и снижает выраженность пор.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Обеспечивает высокий терапевтический ответ без развития резистентности.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Динамика снижения воспалительных элементов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fact_0034, fact_0035, fact_0036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гиперпигментации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Механизмы осветления кожи и клиническая эффективность при мелазме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0067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Блокада транспорта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0067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Подавляет перенос меланосом из меланоцитов в кератиноциты на клеточном уровне.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59335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42215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Осветление кожи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2215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Концентрации от 2% до 5% достоверно снижают выраженность гиперпигментации.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1484" y="1339453"/>
            <a:ext cx="2624328" cy="283464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44364" y="1518046"/>
            <a:ext cx="2258568" cy="4572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800" b="1" i="0">
                <a:solidFill>
                  <a:srgbClr val="2C3440"/>
                </a:solidFill>
                <a:latin typeface="Arimo"/>
              </a:defRPr>
            </a:pPr>
            <a:r>
              <a:rPr sz="1800" b="1" i="0">
                <a:solidFill>
                  <a:srgbClr val="2C3440"/>
                </a:solidFill>
                <a:latin typeface="Arimo"/>
              </a:rPr>
              <a:t>Терапия мелазмы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4364" y="2053828"/>
            <a:ext cx="2258568" cy="192024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300" b="0" i="0">
                <a:solidFill>
                  <a:srgbClr val="3D4A40"/>
                </a:solidFill>
                <a:latin typeface="Arimo"/>
              </a:defRPr>
            </a:pPr>
            <a:r>
              <a:rPr sz="1300" b="0" i="0">
                <a:solidFill>
                  <a:srgbClr val="3D4A40"/>
                </a:solidFill>
                <a:latin typeface="Arimo"/>
              </a:rPr>
              <a:t>Ниацинамид 4% сопоставим по действию с 4% гидрохиноном при лучшей переносимости.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fact_0047, SRC-A040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Коррекция возрастных изменений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Многофакторное омолаживающее действие топического 5% ниацинамида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7187" y="1339453"/>
            <a:ext cx="4572000" cy="292608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Сокращает количество мелких морщин и глубину выраженных складок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Снижает эритему, желтизну и выраженность пигментных пятен возрастной кожи.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Существенно улучшает общую текстуру и эластичность кожного покрова.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79218" y="1339453"/>
            <a:ext cx="3607593" cy="2857500"/>
          </a:xfrm>
          <a:prstGeom prst="roundRect">
            <a:avLst/>
          </a:prstGeom>
          <a:solidFill>
            <a:srgbClr val="D7E0CE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8470"/>
                </a:solidFill>
                <a:latin typeface="Arimo"/>
              </a:defRPr>
            </a:pPr>
            <a:r>
              <a:rPr sz="1300" b="1">
                <a:solidFill>
                  <a:srgbClr val="6D8470"/>
                </a:solidFill>
                <a:latin typeface="Arimo"/>
              </a:rPr>
              <a:t>Гистологическая картина омоложения кожи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Клиническая Переносимость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Мягкий терапевтический профиль и применение при чувствительности кожи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39453"/>
            <a:ext cx="8430768" cy="2496312"/>
          </a:xfrm>
          <a:prstGeom prst="roundRect">
            <a:avLst/>
          </a:prstGeom>
          <a:solidFill>
            <a:srgbClr val="E6D2CA"/>
          </a:solidFill>
          <a:ln w="25400">
            <a:solidFill>
              <a:srgbClr val="9E6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09179"/>
            <a:ext cx="731520" cy="7315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ctr">
              <a:lnSpc>
                <a:spcPct val="120000"/>
              </a:lnSpc>
              <a:defRPr sz="4800" b="0" i="0">
                <a:solidFill>
                  <a:srgbClr val="9E6A5A"/>
                </a:solidFill>
                <a:latin typeface="Arimo"/>
              </a:defRPr>
            </a:pPr>
            <a:r>
              <a:rPr sz="4800" b="0" i="0">
                <a:solidFill>
                  <a:srgbClr val="9E6A5A"/>
                </a:solidFill>
                <a:latin typeface="Arimo"/>
              </a:rPr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7904" y="1607343"/>
            <a:ext cx="6858000" cy="36576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000" b="1" i="0">
                <a:solidFill>
                  <a:srgbClr val="9E6A5A"/>
                </a:solidFill>
                <a:latin typeface="Arimo"/>
              </a:defRPr>
            </a:pPr>
            <a:r>
              <a:rPr sz="2000" b="1" i="0">
                <a:solidFill>
                  <a:srgbClr val="9E6A5A"/>
                </a:solidFill>
                <a:latin typeface="Arimo"/>
              </a:rPr>
              <a:t>Применение при повышенной чувствительности кожи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17904" y="2053828"/>
            <a:ext cx="6858000" cy="16459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1" i="0">
                <a:solidFill>
                  <a:srgbClr val="3D4A40"/>
                </a:solidFill>
                <a:latin typeface="Arimo"/>
              </a:defRPr>
            </a:pPr>
            <a:r>
              <a:rPr sz="1500" b="1" i="0">
                <a:solidFill>
                  <a:srgbClr val="3D4A40"/>
                </a:solidFill>
                <a:latin typeface="Arimo"/>
              </a:rPr>
              <a:t>Ниацинамид демонстрирует высокую клиническую переносимость. Улучшает барьерную функцию рогового слоя и обеспечивает терапевтический эффект у пациентов с розацеа.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57187" y="4643437"/>
            <a:ext cx="4572000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100" b="1" i="0">
                <a:solidFill>
                  <a:srgbClr val="6D8470"/>
                </a:solidFill>
                <a:latin typeface="Arimo"/>
              </a:defRPr>
            </a:pPr>
            <a:r>
              <a:rPr sz="1100" b="1" i="0">
                <a:solidFill>
                  <a:srgbClr val="6D8470"/>
                </a:solidFill>
                <a:latin typeface="Arimo"/>
              </a:rPr>
              <a:t>ТОЛЬКО ДЛЯ ПРАКТИКУЮЩИХ СПЕЦИАЛИСТОВ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0" y="4643437"/>
            <a:ext cx="3749039" cy="27432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r">
              <a:lnSpc>
                <a:spcPct val="120000"/>
              </a:lnSpc>
              <a:defRPr sz="1100" b="0" i="0">
                <a:solidFill>
                  <a:srgbClr val="3D4A40"/>
                </a:solidFill>
                <a:latin typeface="Arimo"/>
              </a:defRPr>
            </a:pPr>
            <a:r>
              <a:rPr sz="1100" b="0" i="0">
                <a:solidFill>
                  <a:srgbClr val="3D4A40"/>
                </a:solidFill>
                <a:latin typeface="Arimo"/>
              </a:rPr>
              <a:t>Источники: fact_0024, fact_0025, fact_0034, fact_0038, fact_0047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7187" y="357187"/>
            <a:ext cx="8429625" cy="401835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2600" b="1" i="0">
                <a:solidFill>
                  <a:srgbClr val="2C3440"/>
                </a:solidFill>
                <a:latin typeface="Arimo"/>
              </a:defRPr>
            </a:pPr>
            <a:r>
              <a:rPr sz="2600" b="1" i="0">
                <a:solidFill>
                  <a:srgbClr val="2C3440"/>
                </a:solidFill>
                <a:latin typeface="Arimo"/>
              </a:rPr>
              <a:t>Терапевтические выводы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187" y="803671"/>
            <a:ext cx="8429625" cy="26789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6D8470"/>
                </a:solidFill>
                <a:latin typeface="Arimo"/>
              </a:defRPr>
            </a:pPr>
            <a:r>
              <a:rPr sz="1500" b="0" i="0">
                <a:solidFill>
                  <a:srgbClr val="6D8470"/>
                </a:solidFill>
                <a:latin typeface="Arimo"/>
              </a:rPr>
              <a:t>Резюме по клиническому применению ниацинамида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187" y="1303734"/>
            <a:ext cx="8430768" cy="2857500"/>
          </a:xfrm>
          <a:prstGeom prst="roundRect">
            <a:avLst/>
          </a:prstGeom>
          <a:solidFill>
            <a:srgbClr val="E6D2CA"/>
          </a:solidFill>
          <a:ln w="12700">
            <a:solidFill>
              <a:srgbClr val="D7E0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80554"/>
            <a:ext cx="7863840" cy="2286000"/>
          </a:xfrm>
          <a:prstGeom prst="rect">
            <a:avLst/>
          </a:prstGeom>
          <a:noFill/>
        </p:spPr>
        <p:txBody>
          <a:bodyPr wrap="square" tIns="0" bIns="0" lIns="0" rIns="0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Ниацинамид восстанавливает кожный барьер через индукцию синтеза церамидов и снижение TEWL.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Эффективен в лечении акне средней тяжести, мелазмы и признаков хроностарения лица.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3D4A40"/>
                </a:solidFill>
                <a:latin typeface="Arimo"/>
              </a:defRPr>
            </a:pPr>
            <a:r>
              <a:rPr sz="1500" b="0" i="0">
                <a:solidFill>
                  <a:srgbClr val="3D4A40"/>
                </a:solidFill>
                <a:latin typeface="Arimo"/>
              </a:rPr>
              <a:t>• Демонстрирует высокую клиническую переносимость и терапевтическую мягкость при розацеа.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