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РЕТИНОИДЫ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Ретиноиды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Терапевтический профиль, механизмы действия и клинические протоколы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Ретиноиды в дерматологии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843076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ЧАСТЬ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964531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Механизмы и Кинетика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2768203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D4A40"/>
                </a:solidFill>
                <a:latin typeface="Arimo"/>
              </a:defRPr>
            </a:pPr>
            <a:r>
              <a:rPr sz="2000" b="0" i="0">
                <a:solidFill>
                  <a:srgbClr val="3D4A40"/>
                </a:solidFill>
                <a:latin typeface="Arimo"/>
              </a:rPr>
              <a:t>Клеточные рецепторы и пути метаболической конверсии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fact_0001, SRC-A009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Ядерные Рецепторы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Основной путь транскрипции генов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Ретиноиды регулируют генную транскрипцию путем связывания с ядерными рецепторами RAR и RXR.</a:t>
            </a:r>
          </a:p>
        </p:txBody>
      </p:sp>
      <p:pic>
        <p:nvPicPr>
          <p:cNvPr id="7" name="Picture 6" descr="rar_rxr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fact_0001, fact_0004, fact_0011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Путь Метаболической Конверсии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Каскад окисления ретиноидов в кератиноцитах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1874519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4347" y="1518046"/>
            <a:ext cx="548640" cy="274320"/>
          </a:xfrm>
          <a:prstGeom prst="roundRect">
            <a:avLst/>
          </a:prstGeom>
          <a:solidFill>
            <a:srgbClr val="6D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6F4"/>
                </a:solidFill>
                <a:latin typeface="Arimo"/>
              </a:defRPr>
            </a:pPr>
            <a:r>
              <a:rPr sz="1000" b="1">
                <a:solidFill>
                  <a:srgbClr val="F8F6F4"/>
                </a:solidFill>
                <a:latin typeface="Arim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47" y="1919882"/>
            <a:ext cx="160019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400" b="1" i="0">
                <a:solidFill>
                  <a:srgbClr val="2C3440"/>
                </a:solidFill>
                <a:latin typeface="Arimo"/>
              </a:defRPr>
            </a:pPr>
            <a:r>
              <a:rPr sz="1400" b="1" i="0">
                <a:solidFill>
                  <a:srgbClr val="2C3440"/>
                </a:solidFill>
                <a:latin typeface="Arimo"/>
              </a:rPr>
              <a:t>Ретилпальмитат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347" y="2366367"/>
            <a:ext cx="1600199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Слабый эфир, требует 3 шага конверсии до ретиноевой кислоты.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0312" y="1339453"/>
            <a:ext cx="1874519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37472" y="1518046"/>
            <a:ext cx="548640" cy="274320"/>
          </a:xfrm>
          <a:prstGeom prst="roundRect">
            <a:avLst/>
          </a:prstGeom>
          <a:solidFill>
            <a:srgbClr val="6D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6F4"/>
                </a:solidFill>
                <a:latin typeface="Arimo"/>
              </a:defRPr>
            </a:pPr>
            <a:r>
              <a:rPr sz="1000" b="1">
                <a:solidFill>
                  <a:srgbClr val="F8F6F4"/>
                </a:solidFill>
                <a:latin typeface="Arim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7472" y="1919882"/>
            <a:ext cx="160019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400" b="1" i="0">
                <a:solidFill>
                  <a:srgbClr val="2C3440"/>
                </a:solidFill>
                <a:latin typeface="Arimo"/>
              </a:defRPr>
            </a:pPr>
            <a:r>
              <a:rPr sz="1400" b="1" i="0">
                <a:solidFill>
                  <a:srgbClr val="2C3440"/>
                </a:solidFill>
                <a:latin typeface="Arimo"/>
              </a:rPr>
              <a:t>Ретинол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7472" y="2366367"/>
            <a:ext cx="1600199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Стимулирует коллаген, требует 2 шага метаболического превращения.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3437" y="1339453"/>
            <a:ext cx="1874519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0597" y="1518046"/>
            <a:ext cx="548640" cy="274320"/>
          </a:xfrm>
          <a:prstGeom prst="roundRect">
            <a:avLst/>
          </a:prstGeom>
          <a:solidFill>
            <a:srgbClr val="6D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6F4"/>
                </a:solidFill>
                <a:latin typeface="Arimo"/>
              </a:defRPr>
            </a:pPr>
            <a:r>
              <a:rPr sz="1000" b="1">
                <a:solidFill>
                  <a:srgbClr val="F8F6F4"/>
                </a:solidFill>
                <a:latin typeface="Arim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0597" y="1919882"/>
            <a:ext cx="160019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400" b="1" i="0">
                <a:solidFill>
                  <a:srgbClr val="2C3440"/>
                </a:solidFill>
                <a:latin typeface="Arimo"/>
              </a:defRPr>
            </a:pPr>
            <a:r>
              <a:rPr sz="1400" b="1" i="0">
                <a:solidFill>
                  <a:srgbClr val="2C3440"/>
                </a:solidFill>
                <a:latin typeface="Arimo"/>
              </a:rPr>
              <a:t>Ретинальдегид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0597" y="2366367"/>
            <a:ext cx="1600199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Высокоактивный ретиналь, требует всего 1 шаг конверсии.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6562" y="1339453"/>
            <a:ext cx="1874519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23722" y="1518046"/>
            <a:ext cx="548640" cy="274320"/>
          </a:xfrm>
          <a:prstGeom prst="roundRect">
            <a:avLst/>
          </a:prstGeom>
          <a:solidFill>
            <a:srgbClr val="6D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6F4"/>
                </a:solidFill>
                <a:latin typeface="Arimo"/>
              </a:defRPr>
            </a:pPr>
            <a:r>
              <a:rPr sz="1000" b="1">
                <a:solidFill>
                  <a:srgbClr val="F8F6F4"/>
                </a:solidFill>
                <a:latin typeface="Arim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3722" y="1919882"/>
            <a:ext cx="160019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400" b="1" i="0">
                <a:solidFill>
                  <a:srgbClr val="2C3440"/>
                </a:solidFill>
                <a:latin typeface="Arimo"/>
              </a:defRPr>
            </a:pPr>
            <a:r>
              <a:rPr sz="1400" b="1" i="0">
                <a:solidFill>
                  <a:srgbClr val="2C3440"/>
                </a:solidFill>
                <a:latin typeface="Arimo"/>
              </a:rPr>
              <a:t>Ретиноевая кислота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3722" y="2366367"/>
            <a:ext cx="1600199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Активный третиноин, опосредует свое действие через рецепторы RAR/RXR.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fact_0001, fact_0005, fact_0006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Терапия Третиноином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Клинические эффекты золотого стандарта коррекции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Действие третиноина в кератиноцитах опосредовано связыванием с ядерными рецепторами RAR и RXR.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Является золотым стандартом для клинического улучшения фотоповрежденной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Нормализует дифференцировку кератиноцитов для предотвращения окклюзии фолликулов.</a:t>
            </a:r>
          </a:p>
        </p:txBody>
      </p:sp>
      <p:pic>
        <p:nvPicPr>
          <p:cNvPr id="7" name="Picture 6" descr="skin_layers_turn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fact_0007, fact_0009, fact_0010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Сравнение Селективных Форм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Адапален против Тазаротена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4032504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781" y="1518046"/>
            <a:ext cx="366674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6D8470"/>
                </a:solidFill>
                <a:latin typeface="Arimo"/>
              </a:defRPr>
            </a:pPr>
            <a:r>
              <a:rPr sz="1800" b="1" i="0">
                <a:solidFill>
                  <a:srgbClr val="6D8470"/>
                </a:solidFill>
                <a:latin typeface="Arimo"/>
              </a:rPr>
              <a:t>Адапален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781" y="1964531"/>
            <a:ext cx="3666744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Селективно связывается с rar-beta и rar-gamma рецепторами, снижает риск раздражений.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0593" y="1339453"/>
            <a:ext cx="4032504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9187" y="1518046"/>
            <a:ext cx="366674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6D8470"/>
                </a:solidFill>
                <a:latin typeface="Arimo"/>
              </a:defRPr>
            </a:pPr>
            <a:r>
              <a:rPr sz="1800" b="1" i="0">
                <a:solidFill>
                  <a:srgbClr val="6D8470"/>
                </a:solidFill>
                <a:latin typeface="Arimo"/>
              </a:rPr>
              <a:t>Тазаротен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187" y="1964531"/>
            <a:ext cx="3666744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Связывается с rar-beta и rar-gamma, крем 0.1% клинически эффективен при фотоповреждении.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fact_0004, fact_0011, fact_0012, fact_0014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Безрецептурные 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Биологическая активность ретинола, ретиналя и эфиров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67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Ретинальдегид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67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Улучшает гидратацию и эластичность кожи, требует одного метаболического шага.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9335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2215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Ретинол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2215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Стимулирует синтез коллагена и ингибирует матриксные металлопротеиназы.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1484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4364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Ретилпальмитат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4364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Мягкая нано-форма, снижает воспалительные и невоспалительные акне-поражения.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fact_0010, fact_0011, fact_0012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Клинические Метрики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Параметры эффективности ретиноидов третьего поколения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67" y="1473398"/>
            <a:ext cx="22585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5200" b="1" i="0">
                <a:solidFill>
                  <a:srgbClr val="6D8470"/>
                </a:solidFill>
                <a:latin typeface="Arimo"/>
              </a:defRPr>
            </a:pPr>
            <a:r>
              <a:rPr sz="5200" b="1" i="0">
                <a:solidFill>
                  <a:srgbClr val="6D8470"/>
                </a:solidFill>
                <a:latin typeface="Arimo"/>
              </a:rPr>
              <a:t>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67" y="2232421"/>
            <a:ext cx="2258568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Тазаротен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67" y="2634257"/>
            <a:ext cx="2258568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3D4A40"/>
                </a:solidFill>
                <a:latin typeface="Arimo"/>
              </a:defRPr>
            </a:pPr>
            <a:r>
              <a:rPr sz="1200" b="0" i="0">
                <a:solidFill>
                  <a:srgbClr val="3D4A40"/>
                </a:solidFill>
                <a:latin typeface="Arimo"/>
              </a:rPr>
              <a:t>Концентрация крема, доказавшая эффективность при глубоких морщинах.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9335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2215" y="1473398"/>
            <a:ext cx="22585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5200" b="1" i="0">
                <a:solidFill>
                  <a:srgbClr val="6D8470"/>
                </a:solidFill>
                <a:latin typeface="Arimo"/>
              </a:defRPr>
            </a:pPr>
            <a:r>
              <a:rPr sz="5200" b="1" i="0">
                <a:solidFill>
                  <a:srgbClr val="6D8470"/>
                </a:solidFill>
                <a:latin typeface="Arimo"/>
              </a:rPr>
              <a:t>1 шаг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2215" y="2232421"/>
            <a:ext cx="2258568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Ретинальдегид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2215" y="2634257"/>
            <a:ext cx="2258568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3D4A40"/>
                </a:solidFill>
                <a:latin typeface="Arimo"/>
              </a:defRPr>
            </a:pPr>
            <a:r>
              <a:rPr sz="1200" b="0" i="0">
                <a:solidFill>
                  <a:srgbClr val="3D4A40"/>
                </a:solidFill>
                <a:latin typeface="Arimo"/>
              </a:rPr>
              <a:t>Конверсия до активной кислоты, минимизирует раздражения.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1484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4364" y="1473398"/>
            <a:ext cx="22585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5200" b="1" i="0">
                <a:solidFill>
                  <a:srgbClr val="6D8470"/>
                </a:solidFill>
                <a:latin typeface="Arimo"/>
              </a:defRPr>
            </a:pPr>
            <a:r>
              <a:rPr sz="5200" b="1" i="0">
                <a:solidFill>
                  <a:srgbClr val="6D8470"/>
                </a:solidFill>
                <a:latin typeface="Arimo"/>
              </a:rPr>
              <a:t>12 фкт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4364" y="2232421"/>
            <a:ext cx="2258568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Проверенная база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4364" y="2634257"/>
            <a:ext cx="2258568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3D4A40"/>
                </a:solidFill>
                <a:latin typeface="Arimo"/>
              </a:defRPr>
            </a:pPr>
            <a:r>
              <a:rPr sz="1200" b="0" i="0">
                <a:solidFill>
                  <a:srgbClr val="3D4A40"/>
                </a:solidFill>
                <a:latin typeface="Arimo"/>
              </a:rPr>
              <a:t>Клинически подтвержденных фактов в нашем графе ретиноидов.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fact_0015, SRC-A018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Противопоказания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Меры предосторожности в клинической практике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Абсолютное противопоказание: Беременность и лактация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Топические ретиноиды противопоказаны к применению в период беременности и лактации из-за потенциальных рисков системной тератогенности.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fact_0001, fact_0007, fact_0015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Сводное резюме клинических рекомендаций по ретиноидам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Назначение конкретного ретиноида определяется целями терапии и чувствительностью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Селективные агонисты (адапален, тазаротен) предпочтительны при целевой монотерапии.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Необходимо строго контролировать применение и исключать пациентов в группе риска.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