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РЕТИНОИДЫ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1D291C"/>
                </a:solidFill>
                <a:latin typeface="Arimo"/>
              </a:defRPr>
            </a:pPr>
            <a:r>
              <a:rPr sz="3600" b="1" i="0">
                <a:solidFill>
                  <a:srgbClr val="1D291C"/>
                </a:solidFill>
                <a:latin typeface="Arimo"/>
              </a:rPr>
              <a:t>YM PROSKIN · Ретиноиды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Терапевтический профиль, механизмы действия и клинические протоколы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Ретиноиды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ЧАСТЬ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1D291C"/>
                </a:solidFill>
                <a:latin typeface="Arimo"/>
              </a:defRPr>
            </a:pPr>
            <a:r>
              <a:rPr sz="3600" b="1" i="0">
                <a:solidFill>
                  <a:srgbClr val="1D291C"/>
                </a:solidFill>
                <a:latin typeface="Arimo"/>
              </a:rPr>
              <a:t>Механизмы и Кинетика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Клеточные рецепторы и пути метаболической конверсии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fact_0001, SRC-A009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Ядерные Рецепторы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Основной путь транскрипции генов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Ретиноиды регулируют генную транскрипцию путем связывания с ядерными рецепторами RAR и RXR.</a:t>
            </a:r>
          </a:p>
        </p:txBody>
      </p:sp>
      <p:pic>
        <p:nvPicPr>
          <p:cNvPr id="7" name="Picture 6" descr="rar_rxr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fact_0002, fact_0004, fact_0011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Путь Метаболической Конверсии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Каскад окисления ретиноидов в кератиноцитах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4347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347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1D291C"/>
                </a:solidFill>
                <a:latin typeface="Arimo"/>
              </a:defRPr>
            </a:pPr>
            <a:r>
              <a:rPr sz="1400" b="1" i="0">
                <a:solidFill>
                  <a:srgbClr val="1D291C"/>
                </a:solidFill>
                <a:latin typeface="Arimo"/>
              </a:rPr>
              <a:t>Ретилпальмитат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4347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Слабый эфир, требует 3 шага конверсии до ретиноевой кислоты.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0312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37472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7472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1D291C"/>
                </a:solidFill>
                <a:latin typeface="Arimo"/>
              </a:defRPr>
            </a:pPr>
            <a:r>
              <a:rPr sz="1400" b="1" i="0">
                <a:solidFill>
                  <a:srgbClr val="1D291C"/>
                </a:solidFill>
                <a:latin typeface="Arimo"/>
              </a:rPr>
              <a:t>Ретинол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7472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Стимулирует коллаген, требует 2 шага метаболического превращения.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3437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80597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0597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1D291C"/>
                </a:solidFill>
                <a:latin typeface="Arimo"/>
              </a:defRPr>
            </a:pPr>
            <a:r>
              <a:rPr sz="1400" b="1" i="0">
                <a:solidFill>
                  <a:srgbClr val="1D291C"/>
                </a:solidFill>
                <a:latin typeface="Arimo"/>
              </a:rPr>
              <a:t>Ретинальдегид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0597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Высокоактивный ретиналь, требует всего 1 шаг конверсии.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6562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23722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3722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1D291C"/>
                </a:solidFill>
                <a:latin typeface="Arimo"/>
              </a:defRPr>
            </a:pPr>
            <a:r>
              <a:rPr sz="1400" b="1" i="0">
                <a:solidFill>
                  <a:srgbClr val="1D291C"/>
                </a:solidFill>
                <a:latin typeface="Arimo"/>
              </a:rPr>
              <a:t>Ретиноевая кислота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3722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Активный третиноин, связывается напрямую с рецепторами.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fact_0002, fact_0005, fact_0006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Терапия Третиноином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Клинические эффекты золотого стандарта коррекции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Третиноин связывается напрямую с рецепторами rars без метаболической конверсии.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Является золотым стандартом для клинического улучшения фотоповрежденной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Нормализует дифференцировку кератиноцитов для предотвращения окклюзии фолликулов.</a:t>
            </a:r>
          </a:p>
        </p:txBody>
      </p:sp>
      <p:pic>
        <p:nvPicPr>
          <p:cNvPr id="7" name="Picture 6" descr="skin_layers_turn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fact_0007, fact_0009, fact_0010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Сравнение Селективных Форм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Адапален против Тазаротена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4032504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5781" y="1518046"/>
            <a:ext cx="3666744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6D8470"/>
                </a:solidFill>
                <a:latin typeface="Arimo"/>
              </a:defRPr>
            </a:pPr>
            <a:r>
              <a:rPr sz="1800" b="1" i="0">
                <a:solidFill>
                  <a:srgbClr val="6D8470"/>
                </a:solidFill>
                <a:latin typeface="Arimo"/>
              </a:rPr>
              <a:t>Адапален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5781" y="1964531"/>
            <a:ext cx="3666744" cy="2011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Селективно связывается с rar-beta и rar-gamma рецепторами, снижает риск раздражений.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0593" y="1339453"/>
            <a:ext cx="4032504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29187" y="1518046"/>
            <a:ext cx="3666744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6D8470"/>
                </a:solidFill>
                <a:latin typeface="Arimo"/>
              </a:defRPr>
            </a:pPr>
            <a:r>
              <a:rPr sz="1800" b="1" i="0">
                <a:solidFill>
                  <a:srgbClr val="6D8470"/>
                </a:solidFill>
                <a:latin typeface="Arimo"/>
              </a:rPr>
              <a:t>Тазаротен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9187" y="1964531"/>
            <a:ext cx="3666744" cy="2011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Связывается с rar-beta и rar-gamma, крем 0.1% клинически эффективен при фотоповреждении.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fact_0004, fact_0011, fact_0012, fact_0014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Безрецептурные 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Биологическая активность ретинола, ретиналя и эфиров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1D291C"/>
                </a:solidFill>
                <a:latin typeface="Arimo"/>
              </a:defRPr>
            </a:pPr>
            <a:r>
              <a:rPr sz="1800" b="1" i="0">
                <a:solidFill>
                  <a:srgbClr val="1D291C"/>
                </a:solidFill>
                <a:latin typeface="Arimo"/>
              </a:rPr>
              <a:t>Ретинальдегид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Улучшает гидратацию и эластичность кожи, требует одного метаболического шага.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1D291C"/>
                </a:solidFill>
                <a:latin typeface="Arimo"/>
              </a:defRPr>
            </a:pPr>
            <a:r>
              <a:rPr sz="1800" b="1" i="0">
                <a:solidFill>
                  <a:srgbClr val="1D291C"/>
                </a:solidFill>
                <a:latin typeface="Arimo"/>
              </a:rPr>
              <a:t>Ретинол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Стимулирует синтез коллагена и ингибирует матриксные металлопротеиназы.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1D291C"/>
                </a:solidFill>
                <a:latin typeface="Arimo"/>
              </a:defRPr>
            </a:pPr>
            <a:r>
              <a:rPr sz="1800" b="1" i="0">
                <a:solidFill>
                  <a:srgbClr val="1D291C"/>
                </a:solidFill>
                <a:latin typeface="Arimo"/>
              </a:rPr>
              <a:t>Ретилпальмитат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Мягкая нано-форма, снижает воспалительные и невоспалительные акне-поражения.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fact_0010, fact_0011, fact_0012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Клинические Метрики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Параметры эффективности ретиноидов третьего поколения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0.1%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1D291C"/>
                </a:solidFill>
                <a:latin typeface="Arimo"/>
              </a:defRPr>
            </a:pPr>
            <a:r>
              <a:rPr sz="1800" b="1" i="0">
                <a:solidFill>
                  <a:srgbClr val="1D291C"/>
                </a:solidFill>
                <a:latin typeface="Arimo"/>
              </a:rPr>
              <a:t>Тазаротен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67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Концентрация крема, доказавшая эффективность при глубоких морщинах.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215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1 шаг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2215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1D291C"/>
                </a:solidFill>
                <a:latin typeface="Arimo"/>
              </a:defRPr>
            </a:pPr>
            <a:r>
              <a:rPr sz="1800" b="1" i="0">
                <a:solidFill>
                  <a:srgbClr val="1D291C"/>
                </a:solidFill>
                <a:latin typeface="Arimo"/>
              </a:rPr>
              <a:t>Ретинальдегид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2215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Конверсия до активной кислоты, минимизирует раздражения.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4364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12 фкт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4364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1D291C"/>
                </a:solidFill>
                <a:latin typeface="Arimo"/>
              </a:defRPr>
            </a:pPr>
            <a:r>
              <a:rPr sz="1800" b="1" i="0">
                <a:solidFill>
                  <a:srgbClr val="1D291C"/>
                </a:solidFill>
                <a:latin typeface="Arimo"/>
              </a:rPr>
              <a:t>Проверенная база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4364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Клинически подтвержденных фактов в нашем графе ретиноидов.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fact_0015, SRC-A018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Противопоказания и Ограничения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Меры предосторожности в клинической практике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Абсолютное противопоказание: Беременность и лактация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Топические ретиноиды противопоказаны к применению в период беременности и лактации из-за потенциальных рисков системной тератогенности.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fact_0001, fact_0007, fact_0015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Сводное резюме клинических рекомендаций по ретиноидам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Назначение конкретного ретиноида определяется целями терапии и чувствительностью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Селективные агонисты (адапален, тазаротен) предпочтительны при целевой монотерапии.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Необходимо строго контролировать применение и исключать пациентов в группе риска.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