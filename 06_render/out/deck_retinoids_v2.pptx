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pic>
        <p:nvPicPr>
          <p:cNvPr id="3" name="Picture 2" descr="descriptor_2C3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3661171"/>
            <a:ext cx="3107531" cy="7768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РЕТИНОИДЫ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Ретиноиды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профиль, механизмы действия и клинические протоколы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Ретиноиды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pic>
        <p:nvPicPr>
          <p:cNvPr id="3" name="Picture 2" descr="horizontal_2C3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982265"/>
            <a:ext cx="2009179" cy="4822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ЧАСТЬ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Механизмы и Кинетика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Клеточные рецепторы и пути метаболической конверсии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SRC-A009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Ядерные Рецепторы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Основной путь транскрипции генов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Ретиноиды регулируют генную транскрипцию путем связывания с ядерными рецепторами RAR и RXR.</a:t>
            </a:r>
          </a:p>
        </p:txBody>
      </p:sp>
      <p:pic>
        <p:nvPicPr>
          <p:cNvPr id="11" name="Picture 10" descr="rar_rx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fact_0004, fact_0011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Путь Метаболической Конверсии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Каскад окисления ретиноидов в кератиноцитах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434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34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34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Слабый эфир, требует 3 шага конверсии до ретиноевой кислоты.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031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3747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747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747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Стимулирует коллаген, требует 2 шага метаболического превращения.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4343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8059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059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059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Высокоактивный ретиналь, требует всего 1 шаг конверсии.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656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2372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72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Ретиноевая кислота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372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Активный третиноин, опосредует свое действие через рецепторы RAR/RXR.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fact_0005, fact_0006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Третиноином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Клинические эффекты золотого стандарта коррекции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Действие третиноина в кератиноцитах опосредовано связыванием с ядерными рецепторами RAR и RXR.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Является золотым стандартом для клинического улучшения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дифференцировку кератиноцитов для предотвращения окклюзии фолликулов.</a:t>
            </a:r>
          </a:p>
        </p:txBody>
      </p:sp>
      <p:pic>
        <p:nvPicPr>
          <p:cNvPr id="11" name="Picture 10" descr="skin_layers_turn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fact_0007, fact_0009, fact_0010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Сравнение Селективных Форм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Адапален против Тазаротена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781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Адапален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781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Селективно связывается с rar-beta и rar-gamma рецепторами, снижает риск раздражений.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0593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9187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Тазаротен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9187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Связывается с rar-beta и rar-gamma, крем 0.1% клинически эффективен при фотоповреждении.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fact_0004, fact_0011, fact_0012, fact_0014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Безрецептурные Формы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Биологическая активность ретинола, ретиналя и эфиров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гидратацию и эластичность кожи, требует одного метаболического шага.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Стимулирует синтез коллагена и ингибирует матриксные металлопротеиназы.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Мягкая нано-форма, снижает воспалительные и невоспалительные акне-поражения.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fact_0010, fact_0011, fact_0012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Клинические Метрики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Параметры эффективности ретиноидов третьего поколения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67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0.1%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7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Тазаротен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67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Концентрация крема, доказавшая эффективность при глубоких морщинах.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2215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 шаг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2215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2215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Конверсия до активной кислоты, минимизирует раздражения.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4364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12 фкт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4364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Проверенная база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4364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Клинически подтвержденных фактов в нашем графе ретиноидов.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fact_0015, SRC-A018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Противопоказания и 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Меры предосторожности в клинической практике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Абсолютное противопоказание: Беременность и лактация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Топические ретиноиды противопоказаны к применению в период беременности и лактации из-за потенциальных рисков системной тератогенности.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464843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464843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fact_0007, fact_0015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187" y="4732734"/>
            <a:ext cx="8429625" cy="8929"/>
          </a:xfrm>
          <a:prstGeom prst="rect">
            <a:avLst/>
          </a:prstGeom>
          <a:solidFill>
            <a:srgbClr val="D7E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rk_6D84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" y="4848820"/>
            <a:ext cx="178593" cy="178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7218" y="4830960"/>
            <a:ext cx="1785937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3D4A40"/>
                </a:solidFill>
                <a:latin typeface="Arimo"/>
              </a:defRPr>
            </a:pPr>
            <a:r>
              <a:rPr sz="1100" b="1" i="0">
                <a:solidFill>
                  <a:srgbClr val="3D4A40"/>
                </a:solidFill>
                <a:latin typeface="Arimo"/>
              </a:rPr>
              <a:t>YM PROSKIN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1031" y="4830960"/>
            <a:ext cx="535781" cy="178593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6D8470"/>
                </a:solidFill>
                <a:latin typeface="Arimo"/>
              </a:defRPr>
            </a:pPr>
            <a:r>
              <a:rPr sz="1100" b="0" i="0">
                <a:solidFill>
                  <a:srgbClr val="6D8470"/>
                </a:solidFill>
                <a:latin typeface="Arim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Сводное резюме клинических рекомендаций по ретиноидам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Назначение конкретного ретиноида определяется целями терапии и чувствительностью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Селективные агонисты (адапален, тазаротен) предпочтительны при целевой монотерапии.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Необходимо строго контролировать применение и исключать пациентов в группе риска.</a:t>
            </a:r>
          </a:p>
        </p:txBody>
      </p:sp>
      <p:pic>
        <p:nvPicPr>
          <p:cNvPr id="12" name="Picture 11" descr="badge_2C3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468" y="1750218"/>
            <a:ext cx="1643062" cy="16430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