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D2C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57187" y="1607343"/>
            <a:ext cx="41148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000" b="1" i="0">
                <a:solidFill>
                  <a:srgbClr val="6D8470"/>
                </a:solidFill>
                <a:latin typeface="Arimo"/>
              </a:defRPr>
            </a:pPr>
            <a:r>
              <a:rPr sz="1000" b="1" i="0">
                <a:solidFill>
                  <a:srgbClr val="6D8470"/>
                </a:solidFill>
                <a:latin typeface="Arimo"/>
              </a:rPr>
              <a:t>ПЕПТИДЫ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1875234"/>
            <a:ext cx="41148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3600" b="1" i="0">
                <a:solidFill>
                  <a:srgbClr val="2C3440"/>
                </a:solidFill>
                <a:latin typeface="Arimo"/>
              </a:defRPr>
            </a:pPr>
            <a:r>
              <a:rPr sz="3600" b="1" i="0">
                <a:solidFill>
                  <a:srgbClr val="2C3440"/>
                </a:solidFill>
                <a:latin typeface="Arimo"/>
              </a:rPr>
              <a:t>YM PROSKIN · Пептиды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3036093"/>
            <a:ext cx="411480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Классификация и клиническое применение биомиметических пептидов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22031" y="1071562"/>
            <a:ext cx="3964781" cy="2857500"/>
          </a:xfrm>
          <a:prstGeom prst="roundRect">
            <a:avLst/>
          </a:prstGeom>
          <a:solidFill>
            <a:srgbClr val="D7E0CE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8470"/>
                </a:solidFill>
                <a:latin typeface="Arimo"/>
              </a:defRPr>
            </a:pPr>
            <a:r>
              <a:rPr sz="1300" b="1">
                <a:solidFill>
                  <a:srgbClr val="6D8470"/>
                </a:solidFill>
                <a:latin typeface="Arimo"/>
              </a:rPr>
              <a:t>[Placeholder] Косметические пептиды в дерматологии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fact_0051, fact_0052, fact_0054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Классификация косметических пептидов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Основные функциональные группы биомиметических пептидов в косметологии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187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67" y="1518046"/>
            <a:ext cx="225856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Сигнальные пептиды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67" y="2053828"/>
            <a:ext cx="2258568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3D4A40"/>
                </a:solidFill>
                <a:latin typeface="Arimo"/>
              </a:defRPr>
            </a:pPr>
            <a:r>
              <a:rPr sz="1300" b="0" i="0">
                <a:solidFill>
                  <a:srgbClr val="3D4A40"/>
                </a:solidFill>
                <a:latin typeface="Arimo"/>
              </a:rPr>
              <a:t>Стимулируют активность фибробластов и производство коллагена, эластина и гиалуроновой кислоты для восстановления матрикса кожи.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9335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2215" y="1518046"/>
            <a:ext cx="225856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Пептиды-носители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2215" y="2053828"/>
            <a:ext cx="2258568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3D4A40"/>
                </a:solidFill>
                <a:latin typeface="Arimo"/>
              </a:defRPr>
            </a:pPr>
            <a:r>
              <a:rPr sz="1300" b="0" i="0">
                <a:solidFill>
                  <a:srgbClr val="3D4A40"/>
                </a:solidFill>
                <a:latin typeface="Arimo"/>
              </a:rPr>
              <a:t>Стабилизируют и доставляют микроэлементы (например, медь) к клеткам, ускоряя регенерацию, синтез коллагена и заживление.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1484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4364" y="1518046"/>
            <a:ext cx="225856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Ингибиторы нейротрансмиттеров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4364" y="2053828"/>
            <a:ext cx="2258568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3D4A40"/>
                </a:solidFill>
                <a:latin typeface="Arimo"/>
              </a:defRPr>
            </a:pPr>
            <a:r>
              <a:rPr sz="1300" b="0" i="0">
                <a:solidFill>
                  <a:srgbClr val="3D4A40"/>
                </a:solidFill>
                <a:latin typeface="Arimo"/>
              </a:rPr>
              <a:t>Блокируют передачу нервных импульсов к мимическим мышцам за счет ингибирования SNARE-комплекса, разглаживая мимические морщины.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fact_0051, fact_0055, SRC-A044, SRC-A048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Сигнальные пептиды (Signal Peptides)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Стимуляция синтеза внеклеточного матрикса и неоколлагенеза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Пальмитоил пентапептид-4 (pal-KTTKS / Matrixyl) стимулирует производство коллагена I, III, IV, эластина и гликозаминогликанов.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Пальмитоил трипептид-5 стимулирует синтез коллагена за счет активации фактора роста TGF-beta и защиты от металлопротеиназ.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Клинически доказано существенное улучшение текстуры кожи, уменьшение выраженности морщин и повышение упругости.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79218" y="1339453"/>
            <a:ext cx="3607593" cy="2857500"/>
          </a:xfrm>
          <a:prstGeom prst="roundRect">
            <a:avLst/>
          </a:prstGeom>
          <a:solidFill>
            <a:srgbClr val="D7E0CE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8470"/>
                </a:solidFill>
                <a:latin typeface="Arimo"/>
              </a:defRPr>
            </a:pPr>
            <a:r>
              <a:rPr sz="1300" b="1">
                <a:solidFill>
                  <a:srgbClr val="6D8470"/>
                </a:solidFill>
                <a:latin typeface="Arimo"/>
              </a:rPr>
              <a:t>[Placeholder] Механизм стимуляции неоколлагенеза сигнальными пептидами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fact_0052, fact_0053, SRC-A045, SRC-A046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Пептиды-носители (Carrier Peptides)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Медный трипептид GHK-Cu в процессах ремоделирования и регенерации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Copper Tripeptide-1 (GHK-Cu) стабилизирует и переносит ионы меди, необходимые для работы лизилоксидазы и синтеза коллагена.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Регулирует экспрессию генов, вовлеченных в процессы заживления ран, синтеза межклеточного матрикса и нейтрализации свободных радикалов.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Повышает плотность дермы, стимулирует синтез гликозаминогликанов и ускоряет ремоделирование поврежденных тканей.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79218" y="1339453"/>
            <a:ext cx="3607593" cy="2857500"/>
          </a:xfrm>
          <a:prstGeom prst="roundRect">
            <a:avLst/>
          </a:prstGeom>
          <a:solidFill>
            <a:srgbClr val="D7E0CE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8470"/>
                </a:solidFill>
                <a:latin typeface="Arimo"/>
              </a:defRPr>
            </a:pPr>
            <a:r>
              <a:rPr sz="1300" b="1">
                <a:solidFill>
                  <a:srgbClr val="6D8470"/>
                </a:solidFill>
                <a:latin typeface="Arimo"/>
              </a:rPr>
              <a:t>[Placeholder] Влияние медного трипептида GHK-Cu на метаболизм фибробластов и регенерацию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fact_0054, SRC-A047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Ингибиторы нейротрансмиттеров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Аргирелин как альтернатива инъекционной нейромодуляции мимических морщин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7187" y="1339453"/>
            <a:ext cx="457200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Acetyl Hexapeptide-8 (Argireline) конкурирует с белком SNAP-25, нарушая стабилизацию везикулярного SNARE-комплекса.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Снижает выброс ацетилхолина в синаптическую щель, блокируя передачу импульса к мимическим мышцам лица.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Клинически уменьшает выраженность динамических морщин и складок кожи без риска паралича мышечных волокон.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79218" y="1339453"/>
            <a:ext cx="3607593" cy="2857500"/>
          </a:xfrm>
          <a:prstGeom prst="roundRect">
            <a:avLst/>
          </a:prstGeom>
          <a:solidFill>
            <a:srgbClr val="D7E0CE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D8470"/>
                </a:solidFill>
                <a:latin typeface="Arimo"/>
              </a:defRPr>
            </a:pPr>
            <a:r>
              <a:rPr sz="1300" b="1">
                <a:solidFill>
                  <a:srgbClr val="6D8470"/>
                </a:solidFill>
                <a:latin typeface="Arimo"/>
              </a:rPr>
              <a:t>[Placeholder] Схема ингибирования везикулярного выброса медиатора в синапсе молекулой Argireline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fact_0056, fact_0057, fact_0058, SRC-A049, SRC-A050, SRC-A051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Специализированные пептиды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Клиническое применение регуляторных и противоотечных пептидов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187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67" y="1518046"/>
            <a:ext cx="225856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Palmitoyl Tripeptide-1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67" y="2053828"/>
            <a:ext cx="2258568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3D4A40"/>
                </a:solidFill>
                <a:latin typeface="Arimo"/>
              </a:defRPr>
            </a:pPr>
            <a:r>
              <a:rPr sz="1300" b="0" i="0">
                <a:solidFill>
                  <a:srgbClr val="3D4A40"/>
                </a:solidFill>
                <a:latin typeface="Arimo"/>
              </a:rPr>
              <a:t>Активирует синтез коллагена и гликозаминогликанов фибробластами в процессах восстановления структуры дермального слоя.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9335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2215" y="1518046"/>
            <a:ext cx="225856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Palmitoyl Tripeptide-38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2215" y="2053828"/>
            <a:ext cx="2258568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3D4A40"/>
                </a:solidFill>
                <a:latin typeface="Arimo"/>
              </a:defRPr>
            </a:pPr>
            <a:r>
              <a:rPr sz="1300" b="0" i="0">
                <a:solidFill>
                  <a:srgbClr val="3D4A40"/>
                </a:solidFill>
                <a:latin typeface="Arimo"/>
              </a:rPr>
              <a:t>Улучшает изотропию дермы, разглаживает микрорельеф кожи и сокращает площадь морщин в клинических исследованиях.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1484" y="1339453"/>
            <a:ext cx="2624328" cy="283464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4364" y="1518046"/>
            <a:ext cx="225856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800" b="1" i="0">
                <a:solidFill>
                  <a:srgbClr val="2C3440"/>
                </a:solidFill>
                <a:latin typeface="Arimo"/>
              </a:defRPr>
            </a:pPr>
            <a:r>
              <a:rPr sz="1800" b="1" i="0">
                <a:solidFill>
                  <a:srgbClr val="2C3440"/>
                </a:solidFill>
                <a:latin typeface="Arimo"/>
              </a:rPr>
              <a:t>Acetyl Tetrapeptide-5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4364" y="2053828"/>
            <a:ext cx="2258568" cy="1920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300" b="0" i="0">
                <a:solidFill>
                  <a:srgbClr val="3D4A40"/>
                </a:solidFill>
                <a:latin typeface="Arimo"/>
              </a:defRPr>
            </a:pPr>
            <a:r>
              <a:rPr sz="1300" b="0" i="0">
                <a:solidFill>
                  <a:srgbClr val="3D4A40"/>
                </a:solidFill>
                <a:latin typeface="Arimo"/>
              </a:rPr>
              <a:t>Ингибирует ангиотензинпревращающий фермент (ACE-1), снижая сосудистое давление и выраженность отечности под глазами.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fact_0051, fact_0058, SRC-A044, SRC-A051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Клиническая безопасность и переносимость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Профиль безопасности биомиметических пептидов в косметических формулах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187" y="1339453"/>
            <a:ext cx="8430768" cy="2496312"/>
          </a:xfrm>
          <a:prstGeom prst="roundRect">
            <a:avLst/>
          </a:prstGeom>
          <a:solidFill>
            <a:srgbClr val="E6D2CA"/>
          </a:solidFill>
          <a:ln w="25400">
            <a:solidFill>
              <a:srgbClr val="9E6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09179"/>
            <a:ext cx="7315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lnSpc>
                <a:spcPct val="120000"/>
              </a:lnSpc>
              <a:defRPr sz="4800" b="0" i="0">
                <a:solidFill>
                  <a:srgbClr val="9E6A5A"/>
                </a:solidFill>
                <a:latin typeface="Arimo"/>
              </a:defRPr>
            </a:pPr>
            <a:r>
              <a:rPr sz="4800" b="0" i="0">
                <a:solidFill>
                  <a:srgbClr val="9E6A5A"/>
                </a:solidFill>
                <a:latin typeface="Arimo"/>
              </a:rPr>
              <a:t>⚠️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17904" y="1607343"/>
            <a:ext cx="68580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000" b="1" i="0">
                <a:solidFill>
                  <a:srgbClr val="9E6A5A"/>
                </a:solidFill>
                <a:latin typeface="Arimo"/>
              </a:defRPr>
            </a:pPr>
            <a:r>
              <a:rPr sz="2000" b="1" i="0">
                <a:solidFill>
                  <a:srgbClr val="9E6A5A"/>
                </a:solidFill>
                <a:latin typeface="Arimo"/>
              </a:rPr>
              <a:t>Высокая переносимость и безопасность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053828"/>
            <a:ext cx="6858000" cy="1645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1" i="0">
                <a:solidFill>
                  <a:srgbClr val="3D4A40"/>
                </a:solidFill>
                <a:latin typeface="Arimo"/>
              </a:defRPr>
            </a:pPr>
            <a:r>
              <a:rPr sz="1500" b="1" i="0">
                <a:solidFill>
                  <a:srgbClr val="3D4A40"/>
                </a:solidFill>
                <a:latin typeface="Arimo"/>
              </a:rPr>
              <a:t>Косметические пептиды (включая сигнальные пептиды и ацетил тетрапептид-5) демонстрируют высокий профиль безопасности. Они хорошо переносятся клетками кожи и подходят для ежедневного терапевтического применения.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57187" y="4643437"/>
            <a:ext cx="45720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100" b="1" i="0">
                <a:solidFill>
                  <a:srgbClr val="6D8470"/>
                </a:solidFill>
                <a:latin typeface="Arimo"/>
              </a:defRPr>
            </a:pPr>
            <a:r>
              <a:rPr sz="1100" b="1" i="0">
                <a:solidFill>
                  <a:srgbClr val="6D8470"/>
                </a:solidFill>
                <a:latin typeface="Arimo"/>
              </a:rPr>
              <a:t>ТОЛЬКО ДЛЯ ПРАКТИКУЮЩИХ СПЕЦИАЛИСТОВ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643437"/>
            <a:ext cx="3749039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20000"/>
              </a:lnSpc>
              <a:defRPr sz="1100" b="0" i="0">
                <a:solidFill>
                  <a:srgbClr val="3D4A40"/>
                </a:solidFill>
                <a:latin typeface="Arimo"/>
              </a:defRPr>
            </a:pPr>
            <a:r>
              <a:rPr sz="1100" b="0" i="0">
                <a:solidFill>
                  <a:srgbClr val="3D4A40"/>
                </a:solidFill>
                <a:latin typeface="Arimo"/>
              </a:rPr>
              <a:t>Источники: fact_0051, fact_0052, fact_0054, fact_0058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7187" y="357187"/>
            <a:ext cx="8429625" cy="40183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2600" b="1" i="0">
                <a:solidFill>
                  <a:srgbClr val="2C3440"/>
                </a:solidFill>
                <a:latin typeface="Arimo"/>
              </a:defRPr>
            </a:pPr>
            <a:r>
              <a:rPr sz="2600" b="1" i="0">
                <a:solidFill>
                  <a:srgbClr val="2C3440"/>
                </a:solidFill>
                <a:latin typeface="Arimo"/>
              </a:rPr>
              <a:t>Терапевтические 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187" y="803671"/>
            <a:ext cx="8429625" cy="26789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6D8470"/>
                </a:solidFill>
                <a:latin typeface="Arimo"/>
              </a:defRPr>
            </a:pPr>
            <a:r>
              <a:rPr sz="1500" b="0" i="0">
                <a:solidFill>
                  <a:srgbClr val="6D8470"/>
                </a:solidFill>
                <a:latin typeface="Arimo"/>
              </a:rPr>
              <a:t>Резюме по применению биомиметических пептидов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7187" y="1303734"/>
            <a:ext cx="8430768" cy="2857500"/>
          </a:xfrm>
          <a:prstGeom prst="roundRect">
            <a:avLst/>
          </a:prstGeom>
          <a:solidFill>
            <a:srgbClr val="E6D2CA"/>
          </a:solidFill>
          <a:ln w="12700">
            <a:solidFill>
              <a:srgbClr val="D7E0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80554"/>
            <a:ext cx="7863840" cy="228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Пептиды делятся на сигнальные пептиды (стимуляция коллагена), пептиды-носители (GHK-Cu для регенерации) и ингибиторы нейротрансмиттеров (SNAP-25 имитаторы).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Клинические данные подтверждают уменьшение выраженности морщин, повышение плотности кожи и улучшение ее рельефа.</a:t>
            </a: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</a:p>
          <a:p>
            <a:pPr algn="l">
              <a:lnSpc>
                <a:spcPct val="120000"/>
              </a:lnSpc>
              <a:defRPr sz="1500" b="0" i="0">
                <a:solidFill>
                  <a:srgbClr val="3D4A40"/>
                </a:solidFill>
                <a:latin typeface="Arimo"/>
              </a:defRPr>
            </a:pPr>
            <a:r>
              <a:rPr sz="1500" b="0" i="0">
                <a:solidFill>
                  <a:srgbClr val="3D4A40"/>
                </a:solidFill>
                <a:latin typeface="Arimo"/>
              </a:rPr>
              <a:t>• Все исследованные молекулы демонстрируют высокий профиль безопасности, хорошую тканевую переносимость и отсутствие побочных эффектов.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