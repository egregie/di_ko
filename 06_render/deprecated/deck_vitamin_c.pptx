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D2C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7187" y="4643437"/>
            <a:ext cx="4572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6D8470"/>
                </a:solidFill>
                <a:latin typeface="Arimo"/>
              </a:defRPr>
            </a:pPr>
            <a:r>
              <a:rPr sz="1100" b="1" i="0">
                <a:solidFill>
                  <a:srgbClr val="6D8470"/>
                </a:solidFill>
                <a:latin typeface="Arimo"/>
              </a:rPr>
              <a:t>ТОЛЬКО ДЛЯ ПРАКТИКУЮЩИХ СПЕЦИАЛИСТОВ</a:t>
            </a:r>
          </a:p>
        </p:txBody>
      </p:sp>
      <p:pic>
        <p:nvPicPr>
          <p:cNvPr id="3" name="Picture 2" descr="descriptor_2C34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87" y="3661171"/>
            <a:ext cx="3107531" cy="7768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57187" y="1607343"/>
            <a:ext cx="41148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000" b="1" i="0">
                <a:solidFill>
                  <a:srgbClr val="6D8470"/>
                </a:solidFill>
                <a:latin typeface="Arimo"/>
              </a:defRPr>
            </a:pPr>
            <a:r>
              <a:rPr sz="1000" b="1" i="0">
                <a:solidFill>
                  <a:srgbClr val="6D8470"/>
                </a:solidFill>
                <a:latin typeface="Arimo"/>
              </a:rPr>
              <a:t>ВИТАМИН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7187" y="1875234"/>
            <a:ext cx="411480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3600" b="1" i="0">
                <a:solidFill>
                  <a:srgbClr val="2C3440"/>
                </a:solidFill>
                <a:latin typeface="Arimo"/>
              </a:defRPr>
            </a:pPr>
            <a:r>
              <a:rPr sz="3600" b="1" i="0">
                <a:solidFill>
                  <a:srgbClr val="2C3440"/>
                </a:solidFill>
                <a:latin typeface="Arimo"/>
              </a:rPr>
              <a:t>YM PROSKIN · Витамин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7187" y="3036093"/>
            <a:ext cx="411480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Клиническая эффективность L-аскорбиновой кислоты и её стабильных дериватов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22031" y="1071562"/>
            <a:ext cx="3964781" cy="2857500"/>
          </a:xfrm>
          <a:prstGeom prst="roundRect">
            <a:avLst/>
          </a:prstGeom>
          <a:solidFill>
            <a:srgbClr val="D7E0CE"/>
          </a:solidFill>
          <a:ln w="12700">
            <a:solidFill>
              <a:srgbClr val="D7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8470"/>
                </a:solidFill>
                <a:latin typeface="Arimo"/>
              </a:defRPr>
            </a:pPr>
            <a:r>
              <a:rPr sz="1300" b="1">
                <a:solidFill>
                  <a:srgbClr val="6D8470"/>
                </a:solidFill>
                <a:latin typeface="Arimo"/>
              </a:rPr>
              <a:t>[Placeholder] Применение Витамина C в дерматологии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D2C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7187" y="4643437"/>
            <a:ext cx="4572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6D8470"/>
                </a:solidFill>
                <a:latin typeface="Arimo"/>
              </a:defRPr>
            </a:pPr>
            <a:r>
              <a:rPr sz="1100" b="1" i="0">
                <a:solidFill>
                  <a:srgbClr val="6D8470"/>
                </a:solidFill>
                <a:latin typeface="Arimo"/>
              </a:rPr>
              <a:t>ТОЛЬКО ДЛЯ ПРАКТИКУЮЩИХ СПЕЦИАЛИСТОВ</a:t>
            </a:r>
          </a:p>
        </p:txBody>
      </p:sp>
      <p:pic>
        <p:nvPicPr>
          <p:cNvPr id="3" name="Picture 2" descr="horizontal_2C34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87" y="982265"/>
            <a:ext cx="2009179" cy="4822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57187" y="1607343"/>
            <a:ext cx="8430768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000" b="1" i="0">
                <a:solidFill>
                  <a:srgbClr val="6D8470"/>
                </a:solidFill>
                <a:latin typeface="Arimo"/>
              </a:defRPr>
            </a:pPr>
            <a:r>
              <a:rPr sz="1000" b="1" i="0">
                <a:solidFill>
                  <a:srgbClr val="6D8470"/>
                </a:solidFill>
                <a:latin typeface="Arimo"/>
              </a:rPr>
              <a:t>ВИТАМИН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7187" y="1964531"/>
            <a:ext cx="8430768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3600" b="1" i="0">
                <a:solidFill>
                  <a:srgbClr val="2C3440"/>
                </a:solidFill>
                <a:latin typeface="Arimo"/>
              </a:defRPr>
            </a:pPr>
            <a:r>
              <a:rPr sz="3600" b="1" i="0">
                <a:solidFill>
                  <a:srgbClr val="2C3440"/>
                </a:solidFill>
                <a:latin typeface="Arimo"/>
              </a:rPr>
              <a:t>Терапевтические механизмы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7187" y="2768203"/>
            <a:ext cx="8430768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2000" b="0" i="0">
                <a:solidFill>
                  <a:srgbClr val="3D4A40"/>
                </a:solidFill>
                <a:latin typeface="Arimo"/>
              </a:defRPr>
            </a:pPr>
            <a:r>
              <a:rPr sz="2000" b="0" i="0">
                <a:solidFill>
                  <a:srgbClr val="3D4A40"/>
                </a:solidFill>
                <a:latin typeface="Arimo"/>
              </a:rPr>
              <a:t>Стимуляция коллагена и фотозащита на клеточном уровне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7187" y="4464843"/>
            <a:ext cx="4572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6D8470"/>
                </a:solidFill>
                <a:latin typeface="Arimo"/>
              </a:defRPr>
            </a:pPr>
            <a:r>
              <a:rPr sz="1100" b="1" i="0">
                <a:solidFill>
                  <a:srgbClr val="6D8470"/>
                </a:solidFill>
                <a:latin typeface="Arimo"/>
              </a:rPr>
              <a:t>ТОЛЬКО ДЛЯ ПРАКТИКУЮЩИХ СПЕЦИАЛИСТОВ | SERVIER MEDICAL ART BY LES LABORATOIRES SERVIER (CC-BY 4.0)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4464843"/>
            <a:ext cx="3749039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0000"/>
              </a:lnSpc>
              <a:defRPr sz="1100" b="0" i="0">
                <a:solidFill>
                  <a:srgbClr val="3D4A40"/>
                </a:solidFill>
                <a:latin typeface="Arimo"/>
              </a:defRPr>
            </a:pPr>
            <a:r>
              <a:rPr sz="1100" b="0" i="0">
                <a:solidFill>
                  <a:srgbClr val="3D4A40"/>
                </a:solidFill>
                <a:latin typeface="Arimo"/>
              </a:rPr>
              <a:t>Источники: fact_0021, fact_0030, fact_0046, SRC-A023, SRC-A029</a:t>
            </a:r>
          </a:p>
        </p:txBody>
      </p:sp>
      <p:sp>
        <p:nvSpPr>
          <p:cNvPr id="4" name="Rectangle 3"/>
          <p:cNvSpPr/>
          <p:nvPr/>
        </p:nvSpPr>
        <p:spPr>
          <a:xfrm>
            <a:off x="357187" y="4732734"/>
            <a:ext cx="8429625" cy="8929"/>
          </a:xfrm>
          <a:prstGeom prst="rect">
            <a:avLst/>
          </a:prstGeom>
          <a:solidFill>
            <a:srgbClr val="D7E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ark_6D84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87" y="4848820"/>
            <a:ext cx="178593" cy="1785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7218" y="4830960"/>
            <a:ext cx="1785937" cy="178593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3D4A40"/>
                </a:solidFill>
                <a:latin typeface="Arimo"/>
              </a:defRPr>
            </a:pPr>
            <a:r>
              <a:rPr sz="1100" b="1" i="0">
                <a:solidFill>
                  <a:srgbClr val="3D4A40"/>
                </a:solidFill>
                <a:latin typeface="Arimo"/>
              </a:rPr>
              <a:t>YM PROSKIN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1031" y="4830960"/>
            <a:ext cx="535781" cy="178593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0000"/>
              </a:lnSpc>
              <a:defRPr sz="1100" b="0" i="0">
                <a:solidFill>
                  <a:srgbClr val="6D8470"/>
                </a:solidFill>
                <a:latin typeface="Arimo"/>
              </a:defRPr>
            </a:pPr>
            <a:r>
              <a:rPr sz="1100" b="0" i="0">
                <a:solidFill>
                  <a:srgbClr val="6D8470"/>
                </a:solidFill>
                <a:latin typeface="Arimo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7187" y="357187"/>
            <a:ext cx="8429625" cy="40183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2600" b="1" i="0">
                <a:solidFill>
                  <a:srgbClr val="2C3440"/>
                </a:solidFill>
                <a:latin typeface="Arimo"/>
              </a:defRPr>
            </a:pPr>
            <a:r>
              <a:rPr sz="2600" b="1" i="0">
                <a:solidFill>
                  <a:srgbClr val="2C3440"/>
                </a:solidFill>
                <a:latin typeface="Arimo"/>
              </a:rPr>
              <a:t>Синтез коллагена и фотозащита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7187" y="803671"/>
            <a:ext cx="8429625" cy="26789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6D8470"/>
                </a:solidFill>
                <a:latin typeface="Arimo"/>
              </a:defRPr>
            </a:pPr>
            <a:r>
              <a:rPr sz="1500" b="0" i="0">
                <a:solidFill>
                  <a:srgbClr val="6D8470"/>
                </a:solidFill>
                <a:latin typeface="Arimo"/>
              </a:rPr>
              <a:t>Влияние топической L-аскорбиновой кислоты на дермальный матрикс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7187" y="1339453"/>
            <a:ext cx="4572000" cy="2926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Активирует синтез коллагена I и III типов путем увеличения уровней мРНК in vivo.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Защищает клетки кожи от индуцированного ультрафиолетом фотоповреждения.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Стимулирует неоколлагенез и улучшает структурное состояние дермы.</a:t>
            </a:r>
          </a:p>
        </p:txBody>
      </p:sp>
      <p:pic>
        <p:nvPicPr>
          <p:cNvPr id="11" name="Picture 10" descr="collagen_synthe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9218" y="1339453"/>
            <a:ext cx="3607593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7187" y="4464843"/>
            <a:ext cx="4572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6D8470"/>
                </a:solidFill>
                <a:latin typeface="Arimo"/>
              </a:defRPr>
            </a:pPr>
            <a:r>
              <a:rPr sz="1100" b="1" i="0">
                <a:solidFill>
                  <a:srgbClr val="6D8470"/>
                </a:solidFill>
                <a:latin typeface="Arimo"/>
              </a:rPr>
              <a:t>ТОЛЬКО ДЛЯ ПРАКТИКУЮЩИХ СПЕЦИАЛИСТОВ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4464843"/>
            <a:ext cx="3749039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0000"/>
              </a:lnSpc>
              <a:defRPr sz="1100" b="0" i="0">
                <a:solidFill>
                  <a:srgbClr val="3D4A40"/>
                </a:solidFill>
                <a:latin typeface="Arimo"/>
              </a:defRPr>
            </a:pPr>
            <a:r>
              <a:rPr sz="1100" b="0" i="0">
                <a:solidFill>
                  <a:srgbClr val="3D4A40"/>
                </a:solidFill>
                <a:latin typeface="Arimo"/>
              </a:rPr>
              <a:t>Источники: fact_0028, fact_0029, fact_0044, fact_0045, SRC-A028</a:t>
            </a:r>
          </a:p>
        </p:txBody>
      </p:sp>
      <p:sp>
        <p:nvSpPr>
          <p:cNvPr id="4" name="Rectangle 3"/>
          <p:cNvSpPr/>
          <p:nvPr/>
        </p:nvSpPr>
        <p:spPr>
          <a:xfrm>
            <a:off x="357187" y="4732734"/>
            <a:ext cx="8429625" cy="8929"/>
          </a:xfrm>
          <a:prstGeom prst="rect">
            <a:avLst/>
          </a:prstGeom>
          <a:solidFill>
            <a:srgbClr val="D7E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ark_6D84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87" y="4848820"/>
            <a:ext cx="178593" cy="1785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7218" y="4830960"/>
            <a:ext cx="1785937" cy="178593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3D4A40"/>
                </a:solidFill>
                <a:latin typeface="Arimo"/>
              </a:defRPr>
            </a:pPr>
            <a:r>
              <a:rPr sz="1100" b="1" i="0">
                <a:solidFill>
                  <a:srgbClr val="3D4A40"/>
                </a:solidFill>
                <a:latin typeface="Arimo"/>
              </a:rPr>
              <a:t>YM PROSKIN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1031" y="4830960"/>
            <a:ext cx="535781" cy="178593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0000"/>
              </a:lnSpc>
              <a:defRPr sz="1100" b="0" i="0">
                <a:solidFill>
                  <a:srgbClr val="6D8470"/>
                </a:solidFill>
                <a:latin typeface="Arimo"/>
              </a:defRPr>
            </a:pPr>
            <a:r>
              <a:rPr sz="1100" b="0" i="0">
                <a:solidFill>
                  <a:srgbClr val="6D8470"/>
                </a:solidFill>
                <a:latin typeface="Arimo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7187" y="357187"/>
            <a:ext cx="8429625" cy="40183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2600" b="1" i="0">
                <a:solidFill>
                  <a:srgbClr val="2C3440"/>
                </a:solidFill>
                <a:latin typeface="Arimo"/>
              </a:defRPr>
            </a:pPr>
            <a:r>
              <a:rPr sz="2600" b="1" i="0">
                <a:solidFill>
                  <a:srgbClr val="2C3440"/>
                </a:solidFill>
                <a:latin typeface="Arimo"/>
              </a:rPr>
              <a:t>Параметры абсорбции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7187" y="803671"/>
            <a:ext cx="8429625" cy="26789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6D8470"/>
                </a:solidFill>
                <a:latin typeface="Arimo"/>
              </a:defRPr>
            </a:pPr>
            <a:r>
              <a:rPr sz="1500" b="0" i="0">
                <a:solidFill>
                  <a:srgbClr val="6D8470"/>
                </a:solidFill>
                <a:latin typeface="Arimo"/>
              </a:rPr>
              <a:t>Влияние уровня pH и концентрации на чрескожное проникновение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7187" y="1339453"/>
            <a:ext cx="4572000" cy="2926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Для проникновения через роговой слой уровень pH формулы должен быть строго ниже 3.5.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Максимальная эффективная концентрация для чрескожного всасывания составляет 20%.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Дальнейшее увеличение концентрации не повышает абсорбцию, но увеличивает риск раздражения.</a:t>
            </a:r>
          </a:p>
        </p:txBody>
      </p:sp>
      <p:pic>
        <p:nvPicPr>
          <p:cNvPr id="11" name="Picture 10" descr="ascorbic_acid_absorp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9218" y="1339453"/>
            <a:ext cx="3607593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7187" y="4464843"/>
            <a:ext cx="4572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6D8470"/>
                </a:solidFill>
                <a:latin typeface="Arimo"/>
              </a:defRPr>
            </a:pPr>
            <a:r>
              <a:rPr sz="1100" b="1" i="0">
                <a:solidFill>
                  <a:srgbClr val="6D8470"/>
                </a:solidFill>
                <a:latin typeface="Arimo"/>
              </a:rPr>
              <a:t>ТОЛЬКО ДЛЯ ПРАКТИКУЮЩИХ СПЕЦИАЛИСТОВ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4464843"/>
            <a:ext cx="3749039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0000"/>
              </a:lnSpc>
              <a:defRPr sz="1100" b="0" i="0">
                <a:solidFill>
                  <a:srgbClr val="3D4A40"/>
                </a:solidFill>
                <a:latin typeface="Arimo"/>
              </a:defRPr>
            </a:pPr>
            <a:r>
              <a:rPr sz="1100" b="0" i="0">
                <a:solidFill>
                  <a:srgbClr val="3D4A40"/>
                </a:solidFill>
                <a:latin typeface="Arimo"/>
              </a:rPr>
              <a:t>Источники: fact_0022, SRC-A024</a:t>
            </a:r>
          </a:p>
        </p:txBody>
      </p:sp>
      <p:sp>
        <p:nvSpPr>
          <p:cNvPr id="4" name="Rectangle 3"/>
          <p:cNvSpPr/>
          <p:nvPr/>
        </p:nvSpPr>
        <p:spPr>
          <a:xfrm>
            <a:off x="357187" y="4732734"/>
            <a:ext cx="8429625" cy="8929"/>
          </a:xfrm>
          <a:prstGeom prst="rect">
            <a:avLst/>
          </a:prstGeom>
          <a:solidFill>
            <a:srgbClr val="D7E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ark_6D84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87" y="4848820"/>
            <a:ext cx="178593" cy="1785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7218" y="4830960"/>
            <a:ext cx="1785937" cy="178593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3D4A40"/>
                </a:solidFill>
                <a:latin typeface="Arimo"/>
              </a:defRPr>
            </a:pPr>
            <a:r>
              <a:rPr sz="1100" b="1" i="0">
                <a:solidFill>
                  <a:srgbClr val="3D4A40"/>
                </a:solidFill>
                <a:latin typeface="Arimo"/>
              </a:rPr>
              <a:t>YM PROSKIN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1031" y="4830960"/>
            <a:ext cx="535781" cy="178593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0000"/>
              </a:lnSpc>
              <a:defRPr sz="1100" b="0" i="0">
                <a:solidFill>
                  <a:srgbClr val="6D8470"/>
                </a:solidFill>
                <a:latin typeface="Arimo"/>
              </a:defRPr>
            </a:pPr>
            <a:r>
              <a:rPr sz="1100" b="0" i="0">
                <a:solidFill>
                  <a:srgbClr val="6D8470"/>
                </a:solidFill>
                <a:latin typeface="Arimo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7187" y="357187"/>
            <a:ext cx="8429625" cy="40183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2600" b="1" i="0">
                <a:solidFill>
                  <a:srgbClr val="2C3440"/>
                </a:solidFill>
                <a:latin typeface="Arimo"/>
              </a:defRPr>
            </a:pPr>
            <a:r>
              <a:rPr sz="2600" b="1" i="0">
                <a:solidFill>
                  <a:srgbClr val="2C3440"/>
                </a:solidFill>
                <a:latin typeface="Arimo"/>
              </a:rPr>
              <a:t>Терапия акне: Аскорбилфосфат Натрия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7187" y="803671"/>
            <a:ext cx="8429625" cy="26789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6D8470"/>
                </a:solidFill>
                <a:latin typeface="Arimo"/>
              </a:defRPr>
            </a:pPr>
            <a:r>
              <a:rPr sz="1500" b="0" i="0">
                <a:solidFill>
                  <a:srgbClr val="6D8470"/>
                </a:solidFill>
                <a:latin typeface="Arimo"/>
              </a:rPr>
              <a:t>Стабильный дериват витамина C (SAP) в лечении акне средней тяжести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7187" y="1339453"/>
            <a:ext cx="4572000" cy="2926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Топический 5% лосьон SAP демонстрирует высокую клиническую эффективность при акне.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SAP стабилен при нейтральном значении pH и минимизирует раздражение кожи.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Обладает сильным антиоксидантным и себорегулирующим потенциалом.</a:t>
            </a:r>
          </a:p>
        </p:txBody>
      </p:sp>
      <p:pic>
        <p:nvPicPr>
          <p:cNvPr id="11" name="Picture 10" descr="sodium_ascorbyl_phosph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9218" y="1339453"/>
            <a:ext cx="3607593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7187" y="4464843"/>
            <a:ext cx="4572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6D8470"/>
                </a:solidFill>
                <a:latin typeface="Arimo"/>
              </a:defRPr>
            </a:pPr>
            <a:r>
              <a:rPr sz="1100" b="1" i="0">
                <a:solidFill>
                  <a:srgbClr val="6D8470"/>
                </a:solidFill>
                <a:latin typeface="Arimo"/>
              </a:rPr>
              <a:t>ТОЛЬКО ДЛЯ ПРАКТИКУЮЩИХ СПЕЦИАЛИСТОВ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4464843"/>
            <a:ext cx="3749039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0000"/>
              </a:lnSpc>
              <a:defRPr sz="1100" b="0" i="0">
                <a:solidFill>
                  <a:srgbClr val="3D4A40"/>
                </a:solidFill>
                <a:latin typeface="Arimo"/>
              </a:defRPr>
            </a:pPr>
            <a:r>
              <a:rPr sz="1100" b="0" i="0">
                <a:solidFill>
                  <a:srgbClr val="3D4A40"/>
                </a:solidFill>
                <a:latin typeface="Arimo"/>
              </a:rPr>
              <a:t>Источники: fact_0022, fact_0028</a:t>
            </a:r>
          </a:p>
        </p:txBody>
      </p:sp>
      <p:sp>
        <p:nvSpPr>
          <p:cNvPr id="4" name="Rectangle 3"/>
          <p:cNvSpPr/>
          <p:nvPr/>
        </p:nvSpPr>
        <p:spPr>
          <a:xfrm>
            <a:off x="357187" y="4732734"/>
            <a:ext cx="8429625" cy="8929"/>
          </a:xfrm>
          <a:prstGeom prst="rect">
            <a:avLst/>
          </a:prstGeom>
          <a:solidFill>
            <a:srgbClr val="D7E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ark_6D84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87" y="4848820"/>
            <a:ext cx="178593" cy="1785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7218" y="4830960"/>
            <a:ext cx="1785937" cy="178593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3D4A40"/>
                </a:solidFill>
                <a:latin typeface="Arimo"/>
              </a:defRPr>
            </a:pPr>
            <a:r>
              <a:rPr sz="1100" b="1" i="0">
                <a:solidFill>
                  <a:srgbClr val="3D4A40"/>
                </a:solidFill>
                <a:latin typeface="Arimo"/>
              </a:rPr>
              <a:t>YM PROSKIN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1031" y="4830960"/>
            <a:ext cx="535781" cy="178593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0000"/>
              </a:lnSpc>
              <a:defRPr sz="1100" b="0" i="0">
                <a:solidFill>
                  <a:srgbClr val="6D8470"/>
                </a:solidFill>
                <a:latin typeface="Arimo"/>
              </a:defRPr>
            </a:pPr>
            <a:r>
              <a:rPr sz="1100" b="0" i="0">
                <a:solidFill>
                  <a:srgbClr val="6D8470"/>
                </a:solidFill>
                <a:latin typeface="Arimo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7187" y="357187"/>
            <a:ext cx="8429625" cy="40183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2600" b="1" i="0">
                <a:solidFill>
                  <a:srgbClr val="2C3440"/>
                </a:solidFill>
                <a:latin typeface="Arimo"/>
              </a:defRPr>
            </a:pPr>
            <a:r>
              <a:rPr sz="2600" b="1" i="0">
                <a:solidFill>
                  <a:srgbClr val="2C3440"/>
                </a:solidFill>
                <a:latin typeface="Arimo"/>
              </a:rPr>
              <a:t>Местная Переносимость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7187" y="803671"/>
            <a:ext cx="8429625" cy="26789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6D8470"/>
                </a:solidFill>
                <a:latin typeface="Arimo"/>
              </a:defRPr>
            </a:pPr>
            <a:r>
              <a:rPr sz="1500" b="0" i="0">
                <a:solidFill>
                  <a:srgbClr val="6D8470"/>
                </a:solidFill>
                <a:latin typeface="Arimo"/>
              </a:rPr>
              <a:t>Особенности влияния уровня pH формулы на чувствительность кожи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7187" y="1339453"/>
            <a:ext cx="8430768" cy="2496312"/>
          </a:xfrm>
          <a:prstGeom prst="roundRect">
            <a:avLst/>
          </a:prstGeom>
          <a:solidFill>
            <a:srgbClr val="E6D2CA"/>
          </a:solidFill>
          <a:ln w="25400">
            <a:solidFill>
              <a:srgbClr val="9E6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009179"/>
            <a:ext cx="73152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lnSpc>
                <a:spcPct val="120000"/>
              </a:lnSpc>
              <a:defRPr sz="4800" b="0" i="0">
                <a:solidFill>
                  <a:srgbClr val="9E6A5A"/>
                </a:solidFill>
                <a:latin typeface="Arimo"/>
              </a:defRPr>
            </a:pPr>
            <a:r>
              <a:rPr sz="4800" b="0" i="0">
                <a:solidFill>
                  <a:srgbClr val="9E6A5A"/>
                </a:solidFill>
                <a:latin typeface="Arimo"/>
              </a:rPr>
              <a:t>⚠️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7904" y="1607343"/>
            <a:ext cx="68580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2000" b="1" i="0">
                <a:solidFill>
                  <a:srgbClr val="9E6A5A"/>
                </a:solidFill>
                <a:latin typeface="Arimo"/>
              </a:defRPr>
            </a:pPr>
            <a:r>
              <a:rPr sz="2000" b="1" i="0">
                <a:solidFill>
                  <a:srgbClr val="9E6A5A"/>
                </a:solidFill>
                <a:latin typeface="Arimo"/>
              </a:rPr>
              <a:t>Местное раздражение и водородный показатель (pH)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17904" y="2053828"/>
            <a:ext cx="6858000" cy="1645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1" i="0">
                <a:solidFill>
                  <a:srgbClr val="3D4A40"/>
                </a:solidFill>
                <a:latin typeface="Arimo"/>
              </a:defRPr>
            </a:pPr>
            <a:r>
              <a:rPr sz="1500" b="1" i="0">
                <a:solidFill>
                  <a:srgbClr val="3D4A40"/>
                </a:solidFill>
                <a:latin typeface="Arimo"/>
              </a:rPr>
              <a:t>Формулы L-аскорбиновой кислоты с низким pH (менее 3.5) могут вызывать локальное покалывание. Дериват аскорбилфосфат натрия (5% SAP) наносится при нейтральном pH и имеет комфортный профиль.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7187" y="4464843"/>
            <a:ext cx="4572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6D8470"/>
                </a:solidFill>
                <a:latin typeface="Arimo"/>
              </a:defRPr>
            </a:pPr>
            <a:r>
              <a:rPr sz="1100" b="1" i="0">
                <a:solidFill>
                  <a:srgbClr val="6D8470"/>
                </a:solidFill>
                <a:latin typeface="Arimo"/>
              </a:rPr>
              <a:t>ТОЛЬКО ДЛЯ ПРАКТИКУЮЩИХ СПЕЦИАЛИСТОВ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4464843"/>
            <a:ext cx="3749039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0000"/>
              </a:lnSpc>
              <a:defRPr sz="1100" b="0" i="0">
                <a:solidFill>
                  <a:srgbClr val="3D4A40"/>
                </a:solidFill>
                <a:latin typeface="Arimo"/>
              </a:defRPr>
            </a:pPr>
            <a:r>
              <a:rPr sz="1100" b="0" i="0">
                <a:solidFill>
                  <a:srgbClr val="3D4A40"/>
                </a:solidFill>
                <a:latin typeface="Arimo"/>
              </a:rPr>
              <a:t>Источники: fact_0021, fact_0022, fact_0028, fact_0029, fact_0030</a:t>
            </a:r>
          </a:p>
        </p:txBody>
      </p:sp>
      <p:sp>
        <p:nvSpPr>
          <p:cNvPr id="4" name="Rectangle 3"/>
          <p:cNvSpPr/>
          <p:nvPr/>
        </p:nvSpPr>
        <p:spPr>
          <a:xfrm>
            <a:off x="357187" y="4732734"/>
            <a:ext cx="8429625" cy="8929"/>
          </a:xfrm>
          <a:prstGeom prst="rect">
            <a:avLst/>
          </a:prstGeom>
          <a:solidFill>
            <a:srgbClr val="D7E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ark_6D84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87" y="4848820"/>
            <a:ext cx="178593" cy="1785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7218" y="4830960"/>
            <a:ext cx="1785937" cy="178593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3D4A40"/>
                </a:solidFill>
                <a:latin typeface="Arimo"/>
              </a:defRPr>
            </a:pPr>
            <a:r>
              <a:rPr sz="1100" b="1" i="0">
                <a:solidFill>
                  <a:srgbClr val="3D4A40"/>
                </a:solidFill>
                <a:latin typeface="Arimo"/>
              </a:rPr>
              <a:t>YM PROSKIN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1031" y="4830960"/>
            <a:ext cx="535781" cy="178593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0000"/>
              </a:lnSpc>
              <a:defRPr sz="1100" b="0" i="0">
                <a:solidFill>
                  <a:srgbClr val="6D8470"/>
                </a:solidFill>
                <a:latin typeface="Arimo"/>
              </a:defRPr>
            </a:pPr>
            <a:r>
              <a:rPr sz="1100" b="0" i="0">
                <a:solidFill>
                  <a:srgbClr val="6D8470"/>
                </a:solidFill>
                <a:latin typeface="Arimo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7187" y="357187"/>
            <a:ext cx="8429625" cy="40183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2600" b="1" i="0">
                <a:solidFill>
                  <a:srgbClr val="2C3440"/>
                </a:solidFill>
                <a:latin typeface="Arimo"/>
              </a:defRPr>
            </a:pPr>
            <a:r>
              <a:rPr sz="2600" b="1" i="0">
                <a:solidFill>
                  <a:srgbClr val="2C3440"/>
                </a:solidFill>
                <a:latin typeface="Arimo"/>
              </a:rPr>
              <a:t>Терапевтические выводы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7187" y="803671"/>
            <a:ext cx="8429625" cy="26789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6D8470"/>
                </a:solidFill>
                <a:latin typeface="Arimo"/>
              </a:defRPr>
            </a:pPr>
            <a:r>
              <a:rPr sz="1500" b="0" i="0">
                <a:solidFill>
                  <a:srgbClr val="6D8470"/>
                </a:solidFill>
                <a:latin typeface="Arimo"/>
              </a:rPr>
              <a:t>Резюме по клиническому применению витамина 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7187" y="1303734"/>
            <a:ext cx="8430768" cy="2857500"/>
          </a:xfrm>
          <a:prstGeom prst="roundRect">
            <a:avLst/>
          </a:prstGeom>
          <a:solidFill>
            <a:srgbClr val="E6D2CA"/>
          </a:solidFill>
          <a:ln w="12700">
            <a:solidFill>
              <a:srgbClr val="D7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80554"/>
            <a:ext cx="7863840" cy="228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L-аскорбиновая кислота — золотой стандарт для фотозащиты и активации синтеза коллагена I и III типов.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Трансдермальный перенос L-аскорбиновой кислоты требует pH &lt; 3.5 и ограничен концентрацией в 20%.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Аскорбилфосфат Натрия (5% SAP) является стабильным и эффективным средством в терапии акне.</a:t>
            </a:r>
          </a:p>
        </p:txBody>
      </p:sp>
      <p:pic>
        <p:nvPicPr>
          <p:cNvPr id="12" name="Picture 11" descr="badge_2C34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0468" y="1750218"/>
            <a:ext cx="1643062" cy="164306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